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0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26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26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725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42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7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9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715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45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00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8033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470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0038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190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14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058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C4139-2A4D-449D-BCA7-539E1EDC1E0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495EE99-6941-4F9E-B164-E91687571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16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525" y="326265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 </a:t>
            </a:r>
            <a:r>
              <a:rPr lang="en-US" dirty="0">
                <a:latin typeface="Algerian" panose="04020705040A02060702" pitchFamily="82" charset="0"/>
              </a:rPr>
              <a:t>Analysis and Exploitation of Content-Based Blind SQL Injection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3588" y="2770984"/>
            <a:ext cx="105392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smtClean="0">
                <a:latin typeface="Arial Black" panose="020B0A04020102020204" pitchFamily="34" charset="0"/>
              </a:rPr>
              <a:t>STUDENT NAME 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NETHANIEL JOHAN KURIAN   24BCY10210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VAIBHAV SINGH                       24BCY10161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ASHUTOSH KUSHWAHA         24BCY10034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endParaRPr lang="en-US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COURSE: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CYBER SECURITY AND DIGITAL FORENSICS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265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216" y="279519"/>
            <a:ext cx="7766936" cy="1793979"/>
          </a:xfrm>
        </p:spPr>
        <p:txBody>
          <a:bodyPr/>
          <a:lstStyle/>
          <a:p>
            <a:r>
              <a:rPr lang="en-IN" b="1" dirty="0"/>
              <a:t>Problem Identification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0549" y="1577660"/>
            <a:ext cx="7327841" cy="467503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Silent Threat: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Unlike traditional SQL Injection, Blind SQL Injection (Blind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SQLi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does not return database errors or data directly to the user.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Core Problem: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applications often suppress error messages for security, creating a false sense of safety.</a:t>
            </a:r>
          </a:p>
          <a:p>
            <a:pPr lvl="1"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However, if the application displays 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content (e.g., "User Exists" vs. "User Not Found") based on a query's truthfulness, it is vulnerable.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Significance: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Content-Based Blind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SQLi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allows attackers to steal sensitive data (passwords, admin details) byte-by-byte, purely by observing changes in the HTTP response body.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89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6458" y="215126"/>
            <a:ext cx="7766936" cy="1646302"/>
          </a:xfrm>
        </p:spPr>
        <p:txBody>
          <a:bodyPr/>
          <a:lstStyle/>
          <a:p>
            <a:pPr algn="ctr"/>
            <a:r>
              <a:rPr lang="en-IN" b="1" dirty="0"/>
              <a:t> Literature Review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146458" y="1707962"/>
            <a:ext cx="78217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OWASP Top 10 (A03:2021 Injection): </a:t>
            </a:r>
            <a:r>
              <a:rPr lang="en-IN" dirty="0"/>
              <a:t>consistently ranks SQL Injection as a critical web risk. Blind variants are noted for being harder to detect by standard scanners. </a:t>
            </a:r>
            <a:endParaRPr lang="en-IN" dirty="0" smtClean="0"/>
          </a:p>
          <a:p>
            <a:endParaRPr lang="en-IN" dirty="0"/>
          </a:p>
          <a:p>
            <a:r>
              <a:rPr lang="en-IN" b="1" dirty="0" smtClean="0"/>
              <a:t>Theoretical </a:t>
            </a:r>
            <a:r>
              <a:rPr lang="en-IN" b="1" dirty="0"/>
              <a:t>Basis: Clarke (2009): </a:t>
            </a:r>
            <a:r>
              <a:rPr lang="en-IN" dirty="0"/>
              <a:t>Defined the mechanisms of "Boolean Inference" where database structure is mapped through True/False questions. </a:t>
            </a:r>
            <a:endParaRPr lang="en-IN" dirty="0" smtClean="0"/>
          </a:p>
          <a:p>
            <a:endParaRPr lang="en-IN" dirty="0"/>
          </a:p>
          <a:p>
            <a:r>
              <a:rPr lang="en-IN" b="1" dirty="0" err="1" smtClean="0"/>
              <a:t>PortSwigger</a:t>
            </a:r>
            <a:r>
              <a:rPr lang="en-IN" b="1" dirty="0" smtClean="0"/>
              <a:t> </a:t>
            </a:r>
            <a:r>
              <a:rPr lang="en-IN" b="1" dirty="0"/>
              <a:t>Research: </a:t>
            </a:r>
            <a:r>
              <a:rPr lang="en-IN" dirty="0"/>
              <a:t>Highlights that while data extraction is slower in Blind </a:t>
            </a:r>
            <a:r>
              <a:rPr lang="en-IN" dirty="0" err="1"/>
              <a:t>SQLi</a:t>
            </a:r>
            <a:r>
              <a:rPr lang="en-IN" dirty="0"/>
              <a:t> compared to Union-Based, it is equally destructive. </a:t>
            </a:r>
            <a:endParaRPr lang="en-IN" dirty="0" smtClean="0"/>
          </a:p>
          <a:p>
            <a:endParaRPr lang="en-IN" dirty="0"/>
          </a:p>
          <a:p>
            <a:r>
              <a:rPr lang="en-IN" b="1" dirty="0" smtClean="0"/>
              <a:t>Current </a:t>
            </a:r>
            <a:r>
              <a:rPr lang="en-IN" b="1" dirty="0"/>
              <a:t>State: </a:t>
            </a:r>
            <a:r>
              <a:rPr lang="en-IN" dirty="0"/>
              <a:t>Modern WAFs (Web Application Firewalls) often block standard SQL keywords, but Boolean logic (AND 1=1) often bypasses basic filters, making this specific study crucial.</a:t>
            </a:r>
          </a:p>
        </p:txBody>
      </p:sp>
    </p:spTree>
    <p:extLst>
      <p:ext uri="{BB962C8B-B14F-4D97-AF65-F5344CB8AC3E}">
        <p14:creationId xmlns:p14="http://schemas.microsoft.com/office/powerpoint/2010/main" val="187009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4036" y="408309"/>
            <a:ext cx="7766936" cy="1646302"/>
          </a:xfrm>
        </p:spPr>
        <p:txBody>
          <a:bodyPr/>
          <a:lstStyle/>
          <a:p>
            <a:pPr algn="ctr"/>
            <a:r>
              <a:rPr lang="en-IN" b="1" dirty="0"/>
              <a:t>Project Objectives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9490" y="1822788"/>
            <a:ext cx="7766936" cy="4153009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7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Mechanics: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deconstruct how Content-Based (Boolean) Blind </a:t>
            </a:r>
            <a:r>
              <a:rPr lang="en-US" sz="7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SQLi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interprets logical statements</a:t>
            </a:r>
            <a:r>
              <a:rPr lang="en-US" sz="7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7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7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Exploitation: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demonstrate the extraction of database credentials from a controlled environment (DVWA) using manual injection</a:t>
            </a:r>
            <a:r>
              <a:rPr lang="en-US" sz="7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7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7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 Evaluation: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utilize automated tools (</a:t>
            </a:r>
            <a:r>
              <a:rPr lang="en-US" sz="7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SQLMap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to verify vulnerabilities and compare efficiency against manual methods</a:t>
            </a:r>
            <a:r>
              <a:rPr lang="en-US" sz="7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7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7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Mitigation Strategy: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propose and validate secure coding practices (Prepared Statements) that effectively neutralize Boolean-based attacks.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56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6826" y="1078010"/>
            <a:ext cx="8487177" cy="1646302"/>
          </a:xfrm>
        </p:spPr>
        <p:txBody>
          <a:bodyPr/>
          <a:lstStyle/>
          <a:p>
            <a:pPr algn="ctr"/>
            <a:r>
              <a:rPr lang="en-IN" b="1" dirty="0"/>
              <a:t>Concept: Content-Based Blind </a:t>
            </a:r>
            <a:r>
              <a:rPr lang="en-IN" b="1" dirty="0" err="1"/>
              <a:t>SQLi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81031" y="2202501"/>
            <a:ext cx="6309921" cy="4256039"/>
          </a:xfrm>
        </p:spPr>
        <p:txBody>
          <a:bodyPr>
            <a:no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attack technique that asks the database true/false questions and determines the answer based on the content of the application response. 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Boolean Logic: 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 Scenario: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 WHERE id=1 AND 1=1 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loads normally (e.g., "Welcome, User"). 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 Scenario: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 WHERE id=1 AND 1=2 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content changes (e.g., "ID not found" or missing elements). 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injecting AND substring(password,1,1)='a', if the page loads normally, we know the first letter of the password is 'a'.</a:t>
            </a:r>
          </a:p>
          <a:p>
            <a:pPr algn="l"/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80" y="3709114"/>
            <a:ext cx="6023021" cy="314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6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0"/>
            <a:ext cx="7766936" cy="1646302"/>
          </a:xfrm>
        </p:spPr>
        <p:txBody>
          <a:bodyPr/>
          <a:lstStyle/>
          <a:p>
            <a:pPr algn="ctr"/>
            <a:r>
              <a:rPr lang="en-IN" sz="4000" b="1" dirty="0"/>
              <a:t>Methodology Proposed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7666" y="1051155"/>
            <a:ext cx="6980110" cy="3452206"/>
          </a:xfrm>
        </p:spPr>
        <p:txBody>
          <a:bodyPr>
            <a:noAutofit/>
          </a:bodyPr>
          <a:lstStyle/>
          <a:p>
            <a:pPr algn="l"/>
            <a:r>
              <a:rPr lang="en-IN" sz="1600" b="1" dirty="0">
                <a:solidFill>
                  <a:schemeClr val="tx1"/>
                </a:solidFill>
              </a:rPr>
              <a:t>Phase 1: </a:t>
            </a:r>
            <a:r>
              <a:rPr lang="en-IN" sz="1600" dirty="0">
                <a:solidFill>
                  <a:schemeClr val="tx1"/>
                </a:solidFill>
              </a:rPr>
              <a:t>Environment Setup </a:t>
            </a:r>
          </a:p>
          <a:p>
            <a:pPr algn="l"/>
            <a:r>
              <a:rPr lang="en-IN" sz="1600" dirty="0">
                <a:solidFill>
                  <a:schemeClr val="tx1"/>
                </a:solidFill>
              </a:rPr>
              <a:t>Deployment of DVWA (Damn Vulnerable Web App) on a local server using XAMPP/Docker. </a:t>
            </a:r>
          </a:p>
          <a:p>
            <a:pPr algn="l"/>
            <a:r>
              <a:rPr lang="en-IN" sz="1600" dirty="0">
                <a:solidFill>
                  <a:schemeClr val="tx1"/>
                </a:solidFill>
              </a:rPr>
              <a:t>Configuration of MySQL backend to simulate real-world data storage. </a:t>
            </a:r>
          </a:p>
          <a:p>
            <a:pPr algn="l"/>
            <a:endParaRPr lang="en-IN" sz="1600" b="1" dirty="0" smtClean="0">
              <a:solidFill>
                <a:schemeClr val="tx1"/>
              </a:solidFill>
            </a:endParaRPr>
          </a:p>
          <a:p>
            <a:pPr algn="l"/>
            <a:r>
              <a:rPr lang="en-IN" sz="1600" b="1" dirty="0" smtClean="0">
                <a:solidFill>
                  <a:schemeClr val="tx1"/>
                </a:solidFill>
              </a:rPr>
              <a:t>Phase </a:t>
            </a:r>
            <a:r>
              <a:rPr lang="en-IN" sz="1600" b="1" dirty="0">
                <a:solidFill>
                  <a:schemeClr val="tx1"/>
                </a:solidFill>
              </a:rPr>
              <a:t>2: </a:t>
            </a:r>
            <a:r>
              <a:rPr lang="en-IN" sz="1600" dirty="0">
                <a:solidFill>
                  <a:schemeClr val="tx1"/>
                </a:solidFill>
              </a:rPr>
              <a:t>Vulnerability Detection </a:t>
            </a:r>
          </a:p>
          <a:p>
            <a:pPr algn="l"/>
            <a:r>
              <a:rPr lang="en-IN" sz="1600" dirty="0">
                <a:solidFill>
                  <a:schemeClr val="tx1"/>
                </a:solidFill>
              </a:rPr>
              <a:t>Input fuzzing using Boolean operators (OR, AND) to identify response anomalies. </a:t>
            </a:r>
          </a:p>
          <a:p>
            <a:pPr algn="l"/>
            <a:r>
              <a:rPr lang="en-IN" sz="1600" dirty="0" err="1">
                <a:solidFill>
                  <a:schemeClr val="tx1"/>
                </a:solidFill>
              </a:rPr>
              <a:t>Analyzing</a:t>
            </a:r>
            <a:r>
              <a:rPr lang="en-IN" sz="1600" dirty="0">
                <a:solidFill>
                  <a:schemeClr val="tx1"/>
                </a:solidFill>
              </a:rPr>
              <a:t> HTTP response length and visible text changes using Burp Suite. </a:t>
            </a:r>
            <a:endParaRPr lang="en-IN" sz="1600" dirty="0" smtClean="0">
              <a:solidFill>
                <a:schemeClr val="tx1"/>
              </a:solidFill>
            </a:endParaRPr>
          </a:p>
          <a:p>
            <a:pPr algn="l"/>
            <a:endParaRPr lang="en-IN" sz="1600" dirty="0">
              <a:solidFill>
                <a:schemeClr val="tx1"/>
              </a:solidFill>
            </a:endParaRPr>
          </a:p>
          <a:p>
            <a:pPr algn="l"/>
            <a:r>
              <a:rPr lang="en-IN" sz="1600" b="1" dirty="0">
                <a:solidFill>
                  <a:schemeClr val="tx1"/>
                </a:solidFill>
              </a:rPr>
              <a:t>Phase 3: </a:t>
            </a:r>
            <a:r>
              <a:rPr lang="en-IN" sz="1600" dirty="0">
                <a:solidFill>
                  <a:schemeClr val="tx1"/>
                </a:solidFill>
              </a:rPr>
              <a:t>Exploitation &amp; Analysis </a:t>
            </a:r>
          </a:p>
          <a:p>
            <a:pPr algn="l"/>
            <a:r>
              <a:rPr lang="en-IN" sz="1600" dirty="0" smtClean="0">
                <a:solidFill>
                  <a:schemeClr val="tx1"/>
                </a:solidFill>
              </a:rPr>
              <a:t>     </a:t>
            </a:r>
            <a:r>
              <a:rPr lang="en-IN" sz="1600" b="1" dirty="0" smtClean="0">
                <a:solidFill>
                  <a:schemeClr val="tx1"/>
                </a:solidFill>
              </a:rPr>
              <a:t>Manual</a:t>
            </a:r>
            <a:r>
              <a:rPr lang="en-IN" sz="1600" b="1" dirty="0">
                <a:solidFill>
                  <a:schemeClr val="tx1"/>
                </a:solidFill>
              </a:rPr>
              <a:t>: </a:t>
            </a:r>
            <a:r>
              <a:rPr lang="en-IN" sz="1600" dirty="0">
                <a:solidFill>
                  <a:schemeClr val="tx1"/>
                </a:solidFill>
              </a:rPr>
              <a:t>Character-by-character data extraction (Binary Search method). </a:t>
            </a:r>
          </a:p>
          <a:p>
            <a:pPr algn="l"/>
            <a:r>
              <a:rPr lang="en-IN" sz="1600" dirty="0" smtClean="0">
                <a:solidFill>
                  <a:schemeClr val="tx1"/>
                </a:solidFill>
              </a:rPr>
              <a:t>     </a:t>
            </a:r>
            <a:r>
              <a:rPr lang="en-IN" sz="1600" b="1" dirty="0" smtClean="0">
                <a:solidFill>
                  <a:schemeClr val="tx1"/>
                </a:solidFill>
              </a:rPr>
              <a:t>Automated</a:t>
            </a:r>
            <a:r>
              <a:rPr lang="en-IN" sz="1600" b="1" dirty="0">
                <a:solidFill>
                  <a:schemeClr val="tx1"/>
                </a:solidFill>
              </a:rPr>
              <a:t>: </a:t>
            </a:r>
            <a:r>
              <a:rPr lang="en-IN" sz="1600" dirty="0">
                <a:solidFill>
                  <a:schemeClr val="tx1"/>
                </a:solidFill>
              </a:rPr>
              <a:t>Using </a:t>
            </a:r>
            <a:r>
              <a:rPr lang="en-IN" sz="1600" dirty="0" err="1">
                <a:solidFill>
                  <a:schemeClr val="tx1"/>
                </a:solidFill>
              </a:rPr>
              <a:t>SQLMap</a:t>
            </a:r>
            <a:r>
              <a:rPr lang="en-IN" sz="1600" dirty="0">
                <a:solidFill>
                  <a:schemeClr val="tx1"/>
                </a:solidFill>
              </a:rPr>
              <a:t> to dump database tables. </a:t>
            </a:r>
            <a:endParaRPr lang="en-IN" sz="1600" dirty="0" smtClean="0">
              <a:solidFill>
                <a:schemeClr val="tx1"/>
              </a:solidFill>
            </a:endParaRPr>
          </a:p>
          <a:p>
            <a:pPr algn="l"/>
            <a:endParaRPr lang="en-IN" sz="1600" dirty="0">
              <a:solidFill>
                <a:schemeClr val="tx1"/>
              </a:solidFill>
            </a:endParaRPr>
          </a:p>
          <a:p>
            <a:pPr algn="l"/>
            <a:r>
              <a:rPr lang="en-IN" sz="1600" b="1" dirty="0">
                <a:solidFill>
                  <a:schemeClr val="tx1"/>
                </a:solidFill>
              </a:rPr>
              <a:t>Phase 4: </a:t>
            </a:r>
            <a:r>
              <a:rPr lang="en-IN" sz="1600" dirty="0">
                <a:solidFill>
                  <a:schemeClr val="tx1"/>
                </a:solidFill>
              </a:rPr>
              <a:t>Remediation: Implementing secure code and re-testing.</a:t>
            </a:r>
          </a:p>
          <a:p>
            <a:pPr algn="l"/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436" y="1867436"/>
            <a:ext cx="4990563" cy="49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7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4333" y="0"/>
            <a:ext cx="10032403" cy="1646302"/>
          </a:xfrm>
        </p:spPr>
        <p:txBody>
          <a:bodyPr/>
          <a:lstStyle/>
          <a:p>
            <a:pPr algn="ctr"/>
            <a:r>
              <a:rPr lang="en-IN" sz="4400" b="1" dirty="0"/>
              <a:t>Manual Exploitation Technique</a:t>
            </a:r>
            <a:r>
              <a:rPr lang="en-IN" sz="4400" dirty="0"/>
              <a:t/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91909" y="1646302"/>
            <a:ext cx="7585419" cy="4796953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The "20 Questions" Game: 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We cannot ask: </a:t>
            </a:r>
            <a:r>
              <a:rPr lang="en-US" dirty="0">
                <a:solidFill>
                  <a:schemeClr val="tx1"/>
                </a:solidFill>
              </a:rPr>
              <a:t>"What is the password?" 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We can ask: </a:t>
            </a:r>
            <a:r>
              <a:rPr lang="en-US" dirty="0">
                <a:solidFill>
                  <a:schemeClr val="tx1"/>
                </a:solidFill>
              </a:rPr>
              <a:t>"Is the first letter of the password greater than 'M'?" 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The Payload: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id=1' AND (</a:t>
            </a:r>
            <a:r>
              <a:rPr lang="en-US" dirty="0" err="1">
                <a:solidFill>
                  <a:schemeClr val="tx1"/>
                </a:solidFill>
              </a:rPr>
              <a:t>ascii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substr</a:t>
            </a:r>
            <a:r>
              <a:rPr lang="en-US" dirty="0">
                <a:solidFill>
                  <a:schemeClr val="tx1"/>
                </a:solidFill>
              </a:rPr>
              <a:t>((select user()),1,1))) &gt; 100 # 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Observation: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If the page content remains unchanged, the database answered YES.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If the page content disappears, the database answered NO. 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Result: </a:t>
            </a:r>
            <a:r>
              <a:rPr lang="en-US" dirty="0">
                <a:solidFill>
                  <a:schemeClr val="tx1"/>
                </a:solidFill>
              </a:rPr>
              <a:t>By narrowing down ASCII values, we reconstruct the data without ever seeing an error message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76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63610"/>
            <a:ext cx="7766936" cy="1646302"/>
          </a:xfrm>
        </p:spPr>
        <p:txBody>
          <a:bodyPr/>
          <a:lstStyle/>
          <a:p>
            <a:pPr algn="ctr"/>
            <a:r>
              <a:rPr lang="en-IN" b="1" dirty="0"/>
              <a:t>Tools Used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459" y="1616726"/>
            <a:ext cx="9285428" cy="1096899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Burp Suite (Community Edition):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Used as an HTTP Proxy to intercept requests.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Intruder Module: </a:t>
            </a:r>
            <a:r>
              <a:rPr lang="en-US" dirty="0">
                <a:solidFill>
                  <a:schemeClr val="tx1"/>
                </a:solidFill>
              </a:rPr>
              <a:t>Automates the fuzzing process to check thousands of Boolean conditions rapidly.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Repeater: </a:t>
            </a:r>
            <a:r>
              <a:rPr lang="en-US" dirty="0">
                <a:solidFill>
                  <a:schemeClr val="tx1"/>
                </a:solidFill>
              </a:rPr>
              <a:t>Helps in manually verifying the differences in response length.</a:t>
            </a:r>
          </a:p>
          <a:p>
            <a:pPr algn="l"/>
            <a:r>
              <a:rPr lang="en-US" b="1" dirty="0" err="1">
                <a:solidFill>
                  <a:schemeClr val="tx1"/>
                </a:solidFill>
              </a:rPr>
              <a:t>SQLMap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Automates the detection of Boolean-based Blind </a:t>
            </a:r>
            <a:r>
              <a:rPr lang="en-US" dirty="0" err="1">
                <a:solidFill>
                  <a:schemeClr val="tx1"/>
                </a:solidFill>
              </a:rPr>
              <a:t>SQLi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Command: </a:t>
            </a:r>
            <a:r>
              <a:rPr lang="en-US" dirty="0" err="1">
                <a:solidFill>
                  <a:schemeClr val="tx1"/>
                </a:solidFill>
              </a:rPr>
              <a:t>sqlmap</a:t>
            </a:r>
            <a:r>
              <a:rPr lang="en-US" dirty="0">
                <a:solidFill>
                  <a:schemeClr val="tx1"/>
                </a:solidFill>
              </a:rPr>
              <a:t> -u "target" --technique=B --</a:t>
            </a:r>
            <a:r>
              <a:rPr lang="en-US" dirty="0" err="1">
                <a:solidFill>
                  <a:schemeClr val="tx1"/>
                </a:solidFill>
              </a:rPr>
              <a:t>dbs</a:t>
            </a:r>
            <a:r>
              <a:rPr lang="en-US" dirty="0">
                <a:solidFill>
                  <a:schemeClr val="tx1"/>
                </a:solidFill>
              </a:rPr>
              <a:t> (B flag specifically targets Boolean-based).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DVWA: </a:t>
            </a:r>
            <a:r>
              <a:rPr lang="en-US" dirty="0">
                <a:solidFill>
                  <a:schemeClr val="tx1"/>
                </a:solidFill>
              </a:rPr>
              <a:t>The target environment set to "Low" and "Medium" security levels for testing.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28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47491" y="1284072"/>
            <a:ext cx="10006646" cy="1646302"/>
          </a:xfrm>
        </p:spPr>
        <p:txBody>
          <a:bodyPr/>
          <a:lstStyle/>
          <a:p>
            <a:r>
              <a:rPr lang="en-IN" sz="4400" b="1" dirty="0"/>
              <a:t>Prevention and Countermeasures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35090" y="1661805"/>
            <a:ext cx="7070262" cy="4777633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Primary Defense: </a:t>
            </a:r>
            <a:r>
              <a:rPr lang="en-US" dirty="0">
                <a:solidFill>
                  <a:schemeClr val="tx1"/>
                </a:solidFill>
              </a:rPr>
              <a:t>Parameterized Queries (Prepared Statements)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Ensures the database treats user input as data, never as executable code.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Effect: </a:t>
            </a:r>
            <a:r>
              <a:rPr lang="en-US" dirty="0">
                <a:solidFill>
                  <a:schemeClr val="tx1"/>
                </a:solidFill>
              </a:rPr>
              <a:t>Even if input contains AND 1=1, it is treated as a literal string.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Input Validation: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Implementing strict "Allow-lists" (e.g., only allowing integers for ID fields).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Generic Error Pages: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Ensure the application returns the exact same response regardless of whether a query returns true or false (though this is difficult to implement perfectly without breaking functionality).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WAF (Web Application Firewall): </a:t>
            </a:r>
            <a:r>
              <a:rPr lang="en-US" dirty="0">
                <a:solidFill>
                  <a:schemeClr val="tx1"/>
                </a:solidFill>
              </a:rPr>
              <a:t>detecting logical operators in input streams</a:t>
            </a:r>
            <a:r>
              <a:rPr lang="en-US" dirty="0" smtClean="0">
                <a:solidFill>
                  <a:schemeClr val="tx1"/>
                </a:solidFill>
              </a:rPr>
              <a:t>.  For </a:t>
            </a:r>
            <a:r>
              <a:rPr lang="en-US" dirty="0" err="1" smtClean="0">
                <a:solidFill>
                  <a:schemeClr val="tx1"/>
                </a:solidFill>
              </a:rPr>
              <a:t>eg:ModSecurity,cloudfare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023" y="3348937"/>
            <a:ext cx="4219977" cy="18154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933" y="5164428"/>
            <a:ext cx="4104067" cy="16935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343" y="1512838"/>
            <a:ext cx="4537657" cy="182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2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5703" y="498461"/>
            <a:ext cx="7766936" cy="1646302"/>
          </a:xfrm>
        </p:spPr>
        <p:txBody>
          <a:bodyPr/>
          <a:lstStyle/>
          <a:p>
            <a:pPr algn="ctr"/>
            <a:r>
              <a:rPr lang="en-IN" b="1" dirty="0"/>
              <a:t>Conclusion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703" y="2125441"/>
            <a:ext cx="6980111" cy="4732559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Impact:</a:t>
            </a:r>
            <a:r>
              <a:rPr lang="en-US" dirty="0">
                <a:solidFill>
                  <a:schemeClr val="tx1"/>
                </a:solidFill>
              </a:rPr>
              <a:t> Content-Based Blind </a:t>
            </a:r>
            <a:r>
              <a:rPr lang="en-US" dirty="0" err="1">
                <a:solidFill>
                  <a:schemeClr val="tx1"/>
                </a:solidFill>
              </a:rPr>
              <a:t>SQLi</a:t>
            </a:r>
            <a:r>
              <a:rPr lang="en-US" dirty="0">
                <a:solidFill>
                  <a:schemeClr val="tx1"/>
                </a:solidFill>
              </a:rPr>
              <a:t> is slower than other methods but highly reliable and stealthy.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Key Finding:</a:t>
            </a:r>
            <a:r>
              <a:rPr lang="en-US" dirty="0">
                <a:solidFill>
                  <a:schemeClr val="tx1"/>
                </a:solidFill>
              </a:rPr>
              <a:t> The vulnerability exists not in the database software, but in the application code logic that conditionally displays content.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Project Success:</a:t>
            </a:r>
            <a:r>
              <a:rPr lang="en-US" dirty="0">
                <a:solidFill>
                  <a:schemeClr val="tx1"/>
                </a:solidFill>
              </a:rPr>
              <a:t> Successfully demonstrated the extraction of admin credentials using Boolean logic without triggering database errors.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Final Thought:</a:t>
            </a:r>
            <a:r>
              <a:rPr lang="en-US" dirty="0">
                <a:solidFill>
                  <a:schemeClr val="tx1"/>
                </a:solidFill>
              </a:rPr>
              <a:t> Security is not just about hiding errors; it is about decoupling user input from database logic completely.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720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8126" y="369672"/>
            <a:ext cx="7766936" cy="1646302"/>
          </a:xfrm>
        </p:spPr>
        <p:txBody>
          <a:bodyPr/>
          <a:lstStyle/>
          <a:p>
            <a:pPr algn="ctr"/>
            <a:r>
              <a:rPr lang="en-IN" b="1" dirty="0"/>
              <a:t>References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281" y="2015974"/>
            <a:ext cx="6542229" cy="1096899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OWASP Top 10 – A03:2021 Injection (SQL Injection</a:t>
            </a:r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/>
            <a:r>
              <a:rPr lang="en-IN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PortSwigger</a:t>
            </a:r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Security Academy – Blind SQL Injection </a:t>
            </a:r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Tutorials</a:t>
            </a:r>
          </a:p>
          <a:p>
            <a:pPr algn="l"/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CWE-89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Improper Neutralization of Special Elements used in an SQL </a:t>
            </a:r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</a:p>
          <a:p>
            <a:pPr algn="l"/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DVWA 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 </a:t>
            </a:r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</a:p>
          <a:p>
            <a:pPr algn="l"/>
            <a:r>
              <a:rPr lang="en-IN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SQLMap</a:t>
            </a:r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Repository – Usage Guide for Boolean-Based </a:t>
            </a:r>
            <a:r>
              <a:rPr lang="en-IN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Clarke, J. (2009). SQL Injection Attacks and </a:t>
            </a:r>
            <a:r>
              <a:rPr lang="en-IN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Defense</a:t>
            </a:r>
            <a:r>
              <a:rPr lang="en-IN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0575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165</TotalTime>
  <Words>1000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Arial Black</vt:lpstr>
      <vt:lpstr>Trebuchet MS</vt:lpstr>
      <vt:lpstr>Wingdings 3</vt:lpstr>
      <vt:lpstr>Facet</vt:lpstr>
      <vt:lpstr> Analysis and Exploitation of Content-Based Blind SQL Injection</vt:lpstr>
      <vt:lpstr>Problem Identification </vt:lpstr>
      <vt:lpstr> Literature Review </vt:lpstr>
      <vt:lpstr>Project Objectives </vt:lpstr>
      <vt:lpstr>Concept: Content-Based Blind SQLi </vt:lpstr>
      <vt:lpstr>Methodology Proposed </vt:lpstr>
      <vt:lpstr>Manual Exploitation Technique </vt:lpstr>
      <vt:lpstr>Tools Used </vt:lpstr>
      <vt:lpstr>Prevention and Countermeasures  </vt:lpstr>
      <vt:lpstr>Conclusion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Analysis and Exploitation of Content-Based Blind SQL Injection</dc:title>
  <dc:creator>Priyanka</dc:creator>
  <cp:lastModifiedBy>Priyanka</cp:lastModifiedBy>
  <cp:revision>10</cp:revision>
  <dcterms:created xsi:type="dcterms:W3CDTF">2026-02-02T15:27:09Z</dcterms:created>
  <dcterms:modified xsi:type="dcterms:W3CDTF">2026-02-04T06:59:47Z</dcterms:modified>
</cp:coreProperties>
</file>