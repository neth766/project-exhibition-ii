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7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8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8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9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5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34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0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10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4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1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2192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34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3162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49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38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12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5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984" y="596722"/>
            <a:ext cx="7704667" cy="1981200"/>
          </a:xfrm>
        </p:spPr>
        <p:txBody>
          <a:bodyPr>
            <a:normAutofit/>
          </a:bodyPr>
          <a:lstStyle/>
          <a:p>
            <a:r>
              <a:rPr dirty="0">
                <a:latin typeface="Algerian" panose="04020705040A02060702" pitchFamily="82" charset="0"/>
              </a:rPr>
              <a:t>Analysis and Automation of Time‑Based Blind 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919" y="2049889"/>
            <a:ext cx="8583769" cy="40397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Temporal Response Analysis for Silent Backend Exploitation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Name:</a:t>
            </a:r>
            <a:r>
              <a:rPr lang="en-US" sz="1800" dirty="0">
                <a:latin typeface="Arial Black" panose="020B0A04020102020204" pitchFamily="34" charset="0"/>
              </a:rPr>
              <a:t>      ROHAN SINGH              24BCY10295</a:t>
            </a: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                AASHUTOSH PARIHAR  24BCY10031</a:t>
            </a: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Course:</a:t>
            </a:r>
            <a:r>
              <a:rPr lang="en-US" sz="1800" dirty="0">
                <a:latin typeface="Arial Black" panose="020B0A04020102020204" pitchFamily="34" charset="0"/>
              </a:rPr>
              <a:t> CYBERR SECURITY AND DIGITAL FORENSICS</a:t>
            </a: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Date: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Focus: Understanding how attackers exploit database response delays to extract sensitive information from silent applications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350" y="631065"/>
            <a:ext cx="7704667" cy="1981200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6527" y="1777284"/>
            <a:ext cx="7704667" cy="3332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The Silent Threat: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Time‑Based Blind SQL Injection does not display database errors or visible data.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Modern applications suppress error messages and return uniform pages.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This creates a false sense of security while the database still processes injected logic.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Attackers rely on response timing differences to infer truth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333" y="637505"/>
            <a:ext cx="7704667" cy="198120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Core Problem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955" y="1659230"/>
            <a:ext cx="7704667" cy="3332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Applications often: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Hide SQL errors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Use generic responses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Avoid showing database output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However, databases still execute queries internally.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If execution time changes based on logic, attackers gain a covert communication channel.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Thus, security by obscurity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333" y="685798"/>
            <a:ext cx="7704667" cy="198120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Significance of the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333" y="1791235"/>
            <a:ext cx="8161867" cy="406865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dirty="0">
                <a:latin typeface="Arial Black" panose="020B0A04020102020204" pitchFamily="34" charset="0"/>
              </a:rPr>
              <a:t>Time‑based </a:t>
            </a:r>
            <a:r>
              <a:rPr lang="en-US" sz="3300" dirty="0" err="1">
                <a:latin typeface="Arial Black" panose="020B0A04020102020204" pitchFamily="34" charset="0"/>
              </a:rPr>
              <a:t>SQLi</a:t>
            </a:r>
            <a:r>
              <a:rPr lang="en-US" sz="3300" dirty="0">
                <a:latin typeface="Arial Black" panose="020B0A04020102020204" pitchFamily="34" charset="0"/>
              </a:rPr>
              <a:t> allows data theft without visible traces.</a:t>
            </a:r>
          </a:p>
          <a:p>
            <a:pPr marL="0" indent="0">
              <a:buNone/>
            </a:pPr>
            <a:endParaRPr lang="en-US" sz="33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3300" dirty="0">
                <a:latin typeface="Arial Black" panose="020B0A04020102020204" pitchFamily="34" charset="0"/>
              </a:rPr>
              <a:t>Attackers extract:</a:t>
            </a:r>
          </a:p>
          <a:p>
            <a:pPr marL="0" indent="0">
              <a:buNone/>
            </a:pPr>
            <a:r>
              <a:rPr lang="en-US" sz="3300" dirty="0">
                <a:latin typeface="Arial Black" panose="020B0A04020102020204" pitchFamily="34" charset="0"/>
              </a:rPr>
              <a:t>• Passwords</a:t>
            </a:r>
          </a:p>
          <a:p>
            <a:pPr marL="0" indent="0">
              <a:buNone/>
            </a:pPr>
            <a:r>
              <a:rPr lang="en-US" sz="3300" dirty="0">
                <a:latin typeface="Arial Black" panose="020B0A04020102020204" pitchFamily="34" charset="0"/>
              </a:rPr>
              <a:t>• Admin credentials</a:t>
            </a:r>
          </a:p>
          <a:p>
            <a:pPr marL="0" indent="0">
              <a:buNone/>
            </a:pPr>
            <a:r>
              <a:rPr lang="en-US" sz="3300" dirty="0">
                <a:latin typeface="Arial Black" panose="020B0A04020102020204" pitchFamily="34" charset="0"/>
              </a:rPr>
              <a:t>• Database names</a:t>
            </a:r>
          </a:p>
          <a:p>
            <a:pPr marL="0" indent="0">
              <a:buNone/>
            </a:pPr>
            <a:r>
              <a:rPr lang="en-US" sz="3300" dirty="0">
                <a:latin typeface="Arial Black" panose="020B0A04020102020204" pitchFamily="34" charset="0"/>
              </a:rPr>
              <a:t>• Table structures</a:t>
            </a:r>
          </a:p>
          <a:p>
            <a:pPr marL="0" indent="0">
              <a:buNone/>
            </a:pPr>
            <a:endParaRPr lang="en-US" sz="33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3300" dirty="0">
                <a:latin typeface="Arial Black" panose="020B0A04020102020204" pitchFamily="34" charset="0"/>
              </a:rPr>
              <a:t>Extraction occurs bit‑by‑bit using timing.</a:t>
            </a:r>
          </a:p>
          <a:p>
            <a:pPr marL="0" indent="0">
              <a:buNone/>
            </a:pPr>
            <a:endParaRPr lang="en-US" sz="33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3300" dirty="0">
                <a:latin typeface="Arial Black" panose="020B0A04020102020204" pitchFamily="34" charset="0"/>
              </a:rPr>
              <a:t>Difficult to detect in logs compared to classic </a:t>
            </a:r>
            <a:r>
              <a:rPr lang="en-US" sz="3300" dirty="0" err="1">
                <a:latin typeface="Arial Black" panose="020B0A04020102020204" pitchFamily="34" charset="0"/>
              </a:rPr>
              <a:t>SQLi</a:t>
            </a:r>
            <a:r>
              <a:rPr lang="en-US" sz="3300" dirty="0">
                <a:latin typeface="Arial Black" panose="020B0A04020102020204" pitchFamily="34" charset="0"/>
              </a:rPr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561" y="631065"/>
            <a:ext cx="7704667" cy="198120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333" y="1974762"/>
            <a:ext cx="7704667" cy="3332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OWASP Top 10 (A03 Injection): </a:t>
            </a:r>
            <a:r>
              <a:rPr sz="1800" dirty="0" err="1">
                <a:latin typeface="Arial Black" panose="020B0A04020102020204" pitchFamily="34" charset="0"/>
              </a:rPr>
              <a:t>SQLi</a:t>
            </a:r>
            <a:r>
              <a:rPr sz="1800" dirty="0">
                <a:latin typeface="Arial Black" panose="020B0A04020102020204" pitchFamily="34" charset="0"/>
              </a:rPr>
              <a:t> remains critical.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Research highlights: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Timing side‑channels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Delay‑based inference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Reliable but slow extraction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 err="1">
                <a:latin typeface="Arial Black" panose="020B0A04020102020204" pitchFamily="34" charset="0"/>
              </a:rPr>
              <a:t>PortSwigger</a:t>
            </a:r>
            <a:r>
              <a:rPr sz="1800" dirty="0">
                <a:latin typeface="Arial Black" panose="020B0A04020102020204" pitchFamily="34" charset="0"/>
              </a:rPr>
              <a:t> labs show timing attacks bypass many filters.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Many WAFs fail to detect logical delay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683" y="618186"/>
            <a:ext cx="7704667" cy="198120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7591" y="2267755"/>
            <a:ext cx="7704667" cy="3332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Objectives: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Understand time‑based blind </a:t>
            </a:r>
            <a:r>
              <a:rPr dirty="0" err="1">
                <a:latin typeface="Arial Black" panose="020B0A04020102020204" pitchFamily="34" charset="0"/>
              </a:rPr>
              <a:t>SQLi</a:t>
            </a:r>
            <a:endParaRPr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Demonstrate delay‑based exploitation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Automate using </a:t>
            </a:r>
            <a:r>
              <a:rPr dirty="0" err="1">
                <a:latin typeface="Arial Black" panose="020B0A04020102020204" pitchFamily="34" charset="0"/>
              </a:rPr>
              <a:t>SQLmap</a:t>
            </a:r>
            <a:endParaRPr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Analyze timing responses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Test defensive mechanisms</a:t>
            </a:r>
          </a:p>
          <a:p>
            <a:pPr marL="0" indent="0">
              <a:buNone/>
            </a:pPr>
            <a:endParaRPr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Goal: Show that silent systems still leak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2857" y="643943"/>
            <a:ext cx="6680796" cy="1981200"/>
          </a:xfrm>
        </p:spPr>
        <p:txBody>
          <a:bodyPr/>
          <a:lstStyle/>
          <a:p>
            <a:pPr algn="ctr"/>
            <a:r>
              <a:rPr dirty="0">
                <a:latin typeface="Algerian" panose="04020705040A02060702" pitchFamily="82" charset="0"/>
              </a:rPr>
              <a:t>Concept: Time‑Based Blind </a:t>
            </a:r>
            <a:r>
              <a:rPr dirty="0" err="1">
                <a:latin typeface="Algerian" panose="04020705040A02060702" pitchFamily="82" charset="0"/>
              </a:rPr>
              <a:t>SQLi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2857" y="2270976"/>
            <a:ext cx="7704667" cy="3332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Definition: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An attack where TRUE/FALSE answers are inferred using time delays.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TRUE condition → delayed response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FALSE condition → normal response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No error messages or data shown.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Timing becomes the communication channel.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747" y="686874"/>
            <a:ext cx="7704667" cy="198120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Attack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776" y="1833093"/>
            <a:ext cx="7704667" cy="3332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Attackers inject conditional queries.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Example: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IF(condition, SLEEP(5), 0)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If page loads 5 seconds late → TRUE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Normal load → FALSE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By repeating tests, attackers reconstruct data character‑by‑character</a:t>
            </a:r>
            <a:r>
              <a:rPr sz="18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561" y="650385"/>
            <a:ext cx="7704667" cy="198120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Methodology – Phase 1 &amp;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1688" y="2280635"/>
            <a:ext cx="4452752" cy="33328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Phase 1: Environment Setup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DVWA deployment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MySQL configuration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Stable network setup</a:t>
            </a:r>
          </a:p>
          <a:p>
            <a:pPr marL="0" indent="0">
              <a:buNone/>
            </a:pPr>
            <a:endParaRPr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Phase 2: Detection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Inject delay payloads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Observe timing variations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Confirm repeatable delays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682" y="611747"/>
            <a:ext cx="7704667" cy="198120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Methodology – Phase 3 &amp;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1457" y="2306391"/>
            <a:ext cx="7704667" cy="3332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Phase 3: Exploitation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Manual: Binary search on ASCII values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Automated: </a:t>
            </a:r>
            <a:r>
              <a:rPr dirty="0" err="1">
                <a:latin typeface="Arial Black" panose="020B0A04020102020204" pitchFamily="34" charset="0"/>
              </a:rPr>
              <a:t>SQLmap</a:t>
            </a:r>
            <a:r>
              <a:rPr dirty="0">
                <a:latin typeface="Arial Black" panose="020B0A04020102020204" pitchFamily="34" charset="0"/>
              </a:rPr>
              <a:t> extraction</a:t>
            </a:r>
          </a:p>
          <a:p>
            <a:pPr marL="0" indent="0">
              <a:buNone/>
            </a:pPr>
            <a:endParaRPr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Phase 4: Remediation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Secure coding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Parameterized queries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Re‑testing 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282" y="618186"/>
            <a:ext cx="7704667" cy="1981200"/>
          </a:xfrm>
        </p:spPr>
        <p:txBody>
          <a:bodyPr/>
          <a:lstStyle/>
          <a:p>
            <a:pPr algn="ctr"/>
            <a:r>
              <a:rPr dirty="0">
                <a:latin typeface="Algerian" panose="04020705040A02060702" pitchFamily="82" charset="0"/>
              </a:rPr>
              <a:t>Manual Exploitation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333" y="2370786"/>
            <a:ext cx="7704667" cy="3332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The '20 Questions' approach: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Ask logical timing questions.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Example payload: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IF(ASCII(SUBSTRING((SELECT user()),1,1))&gt;100,SLEEP(5),0)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Delayed response confirms TRUE.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Binary search reduces attempts.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197" y="666817"/>
            <a:ext cx="7704667" cy="198120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198" y="1845636"/>
            <a:ext cx="7704667" cy="3332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 err="1">
                <a:latin typeface="Arial Black" panose="020B0A04020102020204" pitchFamily="34" charset="0"/>
              </a:rPr>
              <a:t>SQLmap</a:t>
            </a:r>
            <a:r>
              <a:rPr sz="1800" dirty="0">
                <a:latin typeface="Arial Black" panose="020B0A04020102020204" pitchFamily="34" charset="0"/>
              </a:rPr>
              <a:t>: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Automation tool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--technique=T for timing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Database dumping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Wireshark: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Packet capture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Timing visualization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DVWA: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• Safe practice environment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1095442"/>
            <a:ext cx="2952750" cy="1552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1" y="2648017"/>
            <a:ext cx="2952750" cy="17554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1" y="4399683"/>
            <a:ext cx="2952749" cy="16176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82" y="448549"/>
            <a:ext cx="7588757" cy="1981200"/>
          </a:xfrm>
        </p:spPr>
        <p:txBody>
          <a:bodyPr/>
          <a:lstStyle/>
          <a:p>
            <a:pPr algn="ctr"/>
            <a:r>
              <a:rPr dirty="0">
                <a:latin typeface="Algerian" panose="04020705040A02060702" pitchFamily="82" charset="0"/>
              </a:rPr>
              <a:t>Prevention and Countermeasures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333" y="2425522"/>
            <a:ext cx="7704667" cy="33328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Primary Defense: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Parameterized queries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Prepared statements</a:t>
            </a:r>
          </a:p>
          <a:p>
            <a:pPr marL="0" indent="0">
              <a:buNone/>
            </a:pPr>
            <a:endParaRPr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Additional: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Input validation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Rate limiting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WAF deployment</a:t>
            </a:r>
          </a:p>
          <a:p>
            <a:pPr marL="0" indent="0">
              <a:buNone/>
            </a:pPr>
            <a:r>
              <a:rPr dirty="0">
                <a:latin typeface="Arial Black" panose="020B0A04020102020204" pitchFamily="34" charset="0"/>
              </a:rPr>
              <a:t>• Monitoring unusual delays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397" y="2060620"/>
            <a:ext cx="4082603" cy="36977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7744" y="605307"/>
            <a:ext cx="7704667" cy="198120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1153" y="1984420"/>
            <a:ext cx="7704667" cy="3332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Time‑based </a:t>
            </a:r>
            <a:r>
              <a:rPr sz="1800" dirty="0" err="1">
                <a:latin typeface="Arial Black" panose="020B0A04020102020204" pitchFamily="34" charset="0"/>
              </a:rPr>
              <a:t>SQLi</a:t>
            </a:r>
            <a:r>
              <a:rPr sz="1800" dirty="0">
                <a:latin typeface="Arial Black" panose="020B0A04020102020204" pitchFamily="34" charset="0"/>
              </a:rPr>
              <a:t> is stealthy and powerful.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Key Insight:</a:t>
            </a: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Vulnerability lies in application logic, not database.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Automation increases attacker capability.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Security must remove timing side‑channels completely.</a:t>
            </a:r>
          </a:p>
          <a:p>
            <a:pPr marL="0" indent="0">
              <a:buNone/>
            </a:pPr>
            <a:endParaRPr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Arial Black" panose="020B0A04020102020204" pitchFamily="34" charset="0"/>
              </a:rPr>
              <a:t>Proactive defense is essential.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</TotalTime>
  <Words>602</Words>
  <Application>Microsoft Office PowerPoint</Application>
  <PresentationFormat>On-screen Show (4:3)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Algerian</vt:lpstr>
      <vt:lpstr>Arial</vt:lpstr>
      <vt:lpstr>Arial Black</vt:lpstr>
      <vt:lpstr>Century Gothic</vt:lpstr>
      <vt:lpstr>Wingdings 3</vt:lpstr>
      <vt:lpstr>Wisp</vt:lpstr>
      <vt:lpstr>Analysis and Automation of Time‑Based Blind SQL Injection</vt:lpstr>
      <vt:lpstr>Problem Identification</vt:lpstr>
      <vt:lpstr>Core Problem Explained</vt:lpstr>
      <vt:lpstr>Significance of the Attack</vt:lpstr>
      <vt:lpstr>Literature Review</vt:lpstr>
      <vt:lpstr>Project Objectives</vt:lpstr>
      <vt:lpstr>Concept: Time‑Based Blind SQLi</vt:lpstr>
      <vt:lpstr>Attack Logic</vt:lpstr>
      <vt:lpstr>Methodology – Phase 1 &amp; 2</vt:lpstr>
      <vt:lpstr>Methodology – Phase 3 &amp; 4</vt:lpstr>
      <vt:lpstr>Manual Exploitation Technique</vt:lpstr>
      <vt:lpstr>Tools Used</vt:lpstr>
      <vt:lpstr>Prevention and Countermeasures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and Automation of Time‑Based Blind SQL Injection</dc:title>
  <dc:subject/>
  <dc:creator>Aashutosh</dc:creator>
  <cp:keywords/>
  <dc:description>generated using python-pptx</dc:description>
  <cp:lastModifiedBy>Aashutosh Parihar</cp:lastModifiedBy>
  <cp:revision>7</cp:revision>
  <dcterms:created xsi:type="dcterms:W3CDTF">2013-01-27T09:14:16Z</dcterms:created>
  <dcterms:modified xsi:type="dcterms:W3CDTF">2026-02-04T07:47:05Z</dcterms:modified>
  <cp:category/>
</cp:coreProperties>
</file>