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Requests/sec</c:v>
                </c:pt>
              </c:strCache>
            </c:strRef>
          </c:tx>
          <c:spPr>
            <a:solidFill>
              <a:srgbClr val="58A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0-1M</c:v>
                  </c:pt>
                  <c:pt idx="1">
                    <c:v>1-2M</c:v>
                  </c:pt>
                  <c:pt idx="2">
                    <c:v>2-3M</c:v>
                  </c:pt>
                  <c:pt idx="3">
                    <c:v>3-4M</c:v>
                  </c:pt>
                  <c:pt idx="4">
                    <c:v>4-5M</c:v>
                  </c:pt>
                  <c:pt idx="5">
                    <c:v>5-6M</c:v>
                  </c:pt>
                  <c:pt idx="6">
                    <c:v>6-7M</c:v>
                  </c:pt>
                  <c:pt idx="7">
                    <c:v>7-8M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</c:v>
                </c:pt>
                <c:pt idx="1">
                  <c:v>55</c:v>
                </c:pt>
                <c:pt idx="2">
                  <c:v>58</c:v>
                </c:pt>
                <c:pt idx="3">
                  <c:v>54</c:v>
                </c:pt>
                <c:pt idx="4">
                  <c:v>60</c:v>
                </c:pt>
                <c:pt idx="5">
                  <c:v>57</c:v>
                </c:pt>
                <c:pt idx="6">
                  <c:v>59</c:v>
                </c:pt>
                <c:pt idx="7">
                  <c:v>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1262D"/>
        </a:solidFill>
        <a:ln>
          <a:noFill/>
        </a:ln>
        <a:effectLst/>
      </c:spPr>
    </c:plotArea>
    <c:plotVisOnly val="1"/>
    <c:dispBlanksAs val="span"/>
  </c:chart>
  <c:spPr>
    <a:solidFill>
      <a:srgbClr val="21262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18288" cy="5143500"/>
          </a:xfrm>
          <a:prstGeom prst="rect">
            <a:avLst/>
          </a:prstGeom>
          <a:solidFill>
            <a:srgbClr val="58A6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05472" y="0"/>
            <a:ext cx="18288" cy="5143500"/>
          </a:xfrm>
          <a:prstGeom prst="rect">
            <a:avLst/>
          </a:prstGeom>
          <a:solidFill>
            <a:srgbClr val="58A6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52944" y="0"/>
            <a:ext cx="18288" cy="5143500"/>
          </a:xfrm>
          <a:prstGeom prst="rect">
            <a:avLst/>
          </a:prstGeom>
          <a:solidFill>
            <a:srgbClr val="58A6FF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900416" y="0"/>
            <a:ext cx="18288" cy="5143500"/>
          </a:xfrm>
          <a:prstGeom prst="rect">
            <a:avLst/>
          </a:prstGeom>
          <a:solidFill>
            <a:srgbClr val="58A6FF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47888" y="0"/>
            <a:ext cx="18288" cy="5143500"/>
          </a:xfrm>
          <a:prstGeom prst="rect">
            <a:avLst/>
          </a:prstGeom>
          <a:solidFill>
            <a:srgbClr val="58A6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0"/>
            <a:ext cx="18288" cy="5143500"/>
          </a:xfrm>
          <a:prstGeom prst="rect">
            <a:avLst/>
          </a:prstGeom>
          <a:solidFill>
            <a:srgbClr val="58A6FF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58000" y="0"/>
            <a:ext cx="2286000" cy="18288"/>
          </a:xfrm>
          <a:prstGeom prst="rect">
            <a:avLst/>
          </a:prstGeom>
          <a:solidFill>
            <a:srgbClr val="58A6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640080"/>
            <a:ext cx="2286000" cy="18288"/>
          </a:xfrm>
          <a:prstGeom prst="rect">
            <a:avLst/>
          </a:prstGeom>
          <a:solidFill>
            <a:srgbClr val="58A6FF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1280160"/>
            <a:ext cx="2286000" cy="18288"/>
          </a:xfrm>
          <a:prstGeom prst="rect">
            <a:avLst/>
          </a:prstGeom>
          <a:solidFill>
            <a:srgbClr val="58A6FF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0" y="1920240"/>
            <a:ext cx="2286000" cy="18288"/>
          </a:xfrm>
          <a:prstGeom prst="rect">
            <a:avLst/>
          </a:prstGeom>
          <a:solidFill>
            <a:srgbClr val="58A6FF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2560320"/>
            <a:ext cx="2286000" cy="18288"/>
          </a:xfrm>
          <a:prstGeom prst="rect">
            <a:avLst/>
          </a:prstGeom>
          <a:solidFill>
            <a:srgbClr val="58A6FF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0" y="3200400"/>
            <a:ext cx="2286000" cy="18288"/>
          </a:xfrm>
          <a:prstGeom prst="rect">
            <a:avLst/>
          </a:prstGeom>
          <a:solidFill>
            <a:srgbClr val="58A6FF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0" y="3840480"/>
            <a:ext cx="2286000" cy="18288"/>
          </a:xfrm>
          <a:prstGeom prst="rect">
            <a:avLst/>
          </a:prstGeom>
          <a:solidFill>
            <a:srgbClr val="58A6FF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4480560"/>
            <a:ext cx="2286000" cy="18288"/>
          </a:xfrm>
          <a:prstGeom prst="rect">
            <a:avLst/>
          </a:prstGeom>
          <a:solidFill>
            <a:srgbClr val="58A6FF">
              <a:alpha val="12000"/>
            </a:srgbClr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777240" cy="7772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292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8A6FF"/>
                </a:solidFill>
              </a:rPr>
              <a:t>CYBERSECURITY RESEARCH PROJECT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" y="1783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Blind SQL Injection</a:t>
            </a:r>
            <a:endParaRPr lang="en-US" sz="4200" dirty="0"/>
          </a:p>
        </p:txBody>
      </p:sp>
      <p:sp>
        <p:nvSpPr>
          <p:cNvPr id="20" name="Text 17"/>
          <p:cNvSpPr/>
          <p:nvPr/>
        </p:nvSpPr>
        <p:spPr>
          <a:xfrm>
            <a:off x="502920" y="2487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8A6FF"/>
                </a:solidFill>
              </a:rPr>
              <a:t>Detection System</a:t>
            </a:r>
            <a:endParaRPr lang="en-US" sz="4200" dirty="0"/>
          </a:p>
        </p:txBody>
      </p:sp>
      <p:sp>
        <p:nvSpPr>
          <p:cNvPr id="21" name="Text 18"/>
          <p:cNvSpPr/>
          <p:nvPr/>
        </p:nvSpPr>
        <p:spPr>
          <a:xfrm>
            <a:off x="50292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Using DVWA &amp; Automated Python Tools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02920" y="4434840"/>
            <a:ext cx="2103120" cy="411480"/>
          </a:xfrm>
          <a:prstGeom prst="rect">
            <a:avLst/>
          </a:prstGeom>
          <a:solidFill>
            <a:srgbClr val="21262D"/>
          </a:solidFill>
          <a:ln w="10160">
            <a:solidFill>
              <a:srgbClr val="58A6FF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4507992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23544" y="45079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~10M Payloads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807208" y="4434840"/>
            <a:ext cx="2103120" cy="411480"/>
          </a:xfrm>
          <a:prstGeom prst="rect">
            <a:avLst/>
          </a:prstGeom>
          <a:solidFill>
            <a:srgbClr val="21262D"/>
          </a:solidFill>
          <a:ln w="10160">
            <a:solidFill>
              <a:srgbClr val="58A6FF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936" y="4507992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227832" y="45079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50–60 req/sec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111496" y="4434840"/>
            <a:ext cx="2103120" cy="411480"/>
          </a:xfrm>
          <a:prstGeom prst="rect">
            <a:avLst/>
          </a:prstGeom>
          <a:solidFill>
            <a:srgbClr val="21262D"/>
          </a:solidFill>
          <a:ln w="10160">
            <a:solidFill>
              <a:srgbClr val="58A6FF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224" y="4507992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32120" y="45079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SQLMap Validated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End-to-end setup, execution, and analysis of blind SQL injection detection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26517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64008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89888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Understand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30352" y="2606040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How blind SQL injection works at a low level through content-based response analysis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46120" y="1188720"/>
            <a:ext cx="2651760" cy="26517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188720"/>
            <a:ext cx="2651760" cy="64008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389888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Automate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410712" y="2606040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Scan millions of payloads, track success/failure metrics, and visualize results live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26480" y="1188720"/>
            <a:ext cx="2651760" cy="26517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188720"/>
            <a:ext cx="2651760" cy="64008"/>
          </a:xfrm>
          <a:prstGeom prst="rect">
            <a:avLst/>
          </a:prstGeom>
          <a:solidFill>
            <a:srgbClr val="E3B34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89888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Validate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291072" y="2606040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Cross-verify findings using SQLMap — an industry-standard penetration testing tool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Environment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solidFill>
            <a:srgbClr val="3FB95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960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Install DVWA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Damn Vulnerable Web Application deployed inside an isolated local web server environment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solidFill>
            <a:srgbClr val="3FB95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Set Security Level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DVWA security level configured to LOW to fully enable SQL injection vulnerability testing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502920" cy="502920"/>
          </a:xfrm>
          <a:prstGeom prst="rect">
            <a:avLst/>
          </a:prstGeom>
          <a:solidFill>
            <a:srgbClr val="3FB95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Configure Sessions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154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PHPSESSID and security cookies identified and configured to authenticate all HTTP requests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502920" cy="502920"/>
          </a:xfrm>
          <a:prstGeom prst="rect">
            <a:avLst/>
          </a:prstGeom>
          <a:solidFill>
            <a:srgbClr val="3FB95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 Virtual Env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114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Isolated virtual environment created for executing and managing all analysis scripts cleanly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868680"/>
            <a:ext cx="402336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9472" y="1005840"/>
            <a:ext cx="146304" cy="146304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22" name="Shape 20"/>
          <p:cNvSpPr/>
          <p:nvPr/>
        </p:nvSpPr>
        <p:spPr>
          <a:xfrm>
            <a:off x="5175504" y="1005840"/>
            <a:ext cx="146304" cy="146304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3" name="Shape 21"/>
          <p:cNvSpPr/>
          <p:nvPr/>
        </p:nvSpPr>
        <p:spPr>
          <a:xfrm>
            <a:off x="5431536" y="1005840"/>
            <a:ext cx="146304" cy="14630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9784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terminal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1298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DVWA dependencies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14996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apache2 php mysql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19019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Clone DVWA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2103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23042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digininja/DVWA.git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27066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Python venv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29077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sqli_env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1089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sqli_env/bin/activate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35112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cookies in script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37124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PHPSESSID = "abc123..."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39136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= "low"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Tools Integrated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14300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09728" cy="1143000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61872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1430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Requests-Based Python Scripts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148132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Manual testing of content-based blind SQLi   •   Send thousands/millions of payloads   •   Track success, failures, errors &amp; speed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304288"/>
            <a:ext cx="8412480" cy="114300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2304288"/>
            <a:ext cx="109728" cy="1143000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56032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44144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Rich Library Dashboard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417320" y="277977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Live real-time statistics display   •   Performance metrics visualization   •   Discovered vulnerable payloads shown inline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3602736"/>
            <a:ext cx="8412480" cy="114300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3602736"/>
            <a:ext cx="109728" cy="1143000"/>
          </a:xfrm>
          <a:prstGeom prst="rect">
            <a:avLst/>
          </a:prstGeom>
          <a:solidFill>
            <a:srgbClr val="F8514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858768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7398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SQLMap Integration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17320" y="407822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Confirmed boolean-based blind SQLi   •   Confirmed time-based blind SQLi   •   Identified DBMS (MySQL/MariaDB), Apache, Debian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Custom Python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023360" cy="1554480"/>
          </a:xfrm>
          <a:prstGeom prst="rect">
            <a:avLst/>
          </a:prstGeom>
          <a:solidFill>
            <a:srgbClr val="161B22"/>
          </a:solidFill>
          <a:ln w="10160">
            <a:solidFill>
              <a:srgbClr val="E3B341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4023360" cy="438912"/>
          </a:xfrm>
          <a:prstGeom prst="rect">
            <a:avLst/>
          </a:prstGeom>
          <a:solidFill>
            <a:srgbClr val="2126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0607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" y="153619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Basic request to verify the endpoint and measure response length as a baseline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120640" y="987552"/>
            <a:ext cx="4023360" cy="1554480"/>
          </a:xfrm>
          <a:prstGeom prst="rect">
            <a:avLst/>
          </a:prstGeom>
          <a:solidFill>
            <a:srgbClr val="161B22"/>
          </a:solidFill>
          <a:ln w="10160">
            <a:solidFill>
              <a:srgbClr val="E3B341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20640" y="987552"/>
            <a:ext cx="4023360" cy="438912"/>
          </a:xfrm>
          <a:prstGeom prst="rect">
            <a:avLst/>
          </a:prstGeom>
          <a:solidFill>
            <a:srgbClr val="2126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07899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0607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blind_sqli.py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285232" y="153619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Automated blind SQL injection data extraction using content-based techniques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65760" y="2770632"/>
            <a:ext cx="4023360" cy="1554480"/>
          </a:xfrm>
          <a:prstGeom prst="rect">
            <a:avLst/>
          </a:prstGeom>
          <a:solidFill>
            <a:srgbClr val="161B22"/>
          </a:solidFill>
          <a:ln w="10160">
            <a:solidFill>
              <a:srgbClr val="E3B341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770632"/>
            <a:ext cx="4023360" cy="438912"/>
          </a:xfrm>
          <a:prstGeom prst="rect">
            <a:avLst/>
          </a:prstGeom>
          <a:solidFill>
            <a:srgbClr val="2126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6207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8437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mass_test.py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30352" y="331927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Runs millions of payloads via HTTP, identifies vulnerable ones, maintains live dashboards with speed metrics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120640" y="2770632"/>
            <a:ext cx="4023360" cy="1554480"/>
          </a:xfrm>
          <a:prstGeom prst="rect">
            <a:avLst/>
          </a:prstGeom>
          <a:solidFill>
            <a:srgbClr val="161B22"/>
          </a:solidFill>
          <a:ln w="10160">
            <a:solidFill>
              <a:srgbClr val="E3B341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120640" y="2770632"/>
            <a:ext cx="4023360" cy="438912"/>
          </a:xfrm>
          <a:prstGeom prst="rect">
            <a:avLst/>
          </a:prstGeom>
          <a:solidFill>
            <a:srgbClr val="2126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86207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28437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results.py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285232" y="331927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Final results displayed in formatted tables and stored for offline analysis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Dataset &amp;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560320" cy="146304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2359152"/>
            <a:ext cx="256032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8A6FF"/>
                </a:solidFill>
              </a:rPr>
              <a:t>~10M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764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SQL Injection Payloads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in dataset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560320" cy="146304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2359152"/>
            <a:ext cx="2560320" cy="640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143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FB950"/>
                </a:solidFill>
              </a:rPr>
              <a:t>50–60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337560" y="1764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HTTP Requests/Second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37560" y="2057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sustained throughput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560320" cy="146304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359152"/>
            <a:ext cx="2560320" cy="6400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143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C8CFF"/>
                </a:solidFill>
              </a:rPr>
              <a:t>100%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217920" y="1764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Automated Scanning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17920" y="2057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zero manual intervention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2606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</a:rPr>
              <a:t>Request Performance Over Time</a:t>
            </a:r>
            <a:endParaRPr lang="en-US" sz="13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2926080"/>
          <a:ext cx="84124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Blind SQL Injection Detection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463040" cy="25603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46304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" y="1298448"/>
            <a:ext cx="384048" cy="38404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813816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1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4708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24688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Payload Sent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2852928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SQL injection payload injected into HTTP request parameter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773936" y="2350008"/>
            <a:ext cx="201168" cy="54864"/>
          </a:xfrm>
          <a:prstGeom prst="rect">
            <a:avLst/>
          </a:prstGeom>
          <a:solidFill>
            <a:srgbClr val="8B949E">
              <a:alpha val="6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011680" y="1097280"/>
            <a:ext cx="1463040" cy="25603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011680" y="1097280"/>
            <a:ext cx="1463040" cy="64008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4" name="Shape 11"/>
          <p:cNvSpPr/>
          <p:nvPr/>
        </p:nvSpPr>
        <p:spPr>
          <a:xfrm>
            <a:off x="2551176" y="1298448"/>
            <a:ext cx="384048" cy="38404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5" name="Text 12"/>
          <p:cNvSpPr/>
          <p:nvPr/>
        </p:nvSpPr>
        <p:spPr>
          <a:xfrm>
            <a:off x="2551176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2</a:t>
            </a:r>
            <a:endParaRPr lang="en-US" sz="1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84708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84832" y="24688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Server Responds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103120" y="2852928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Server processes query; response content/length varies by payload truth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511296" y="2350008"/>
            <a:ext cx="201168" cy="54864"/>
          </a:xfrm>
          <a:prstGeom prst="rect">
            <a:avLst/>
          </a:prstGeom>
          <a:solidFill>
            <a:srgbClr val="8B949E">
              <a:alpha val="60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3749040" y="1097280"/>
            <a:ext cx="1463040" cy="25603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749040" y="1097280"/>
            <a:ext cx="1463040" cy="640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2" name="Shape 18"/>
          <p:cNvSpPr/>
          <p:nvPr/>
        </p:nvSpPr>
        <p:spPr>
          <a:xfrm>
            <a:off x="4288536" y="1298448"/>
            <a:ext cx="384048" cy="38404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3" name="Text 19"/>
          <p:cNvSpPr/>
          <p:nvPr/>
        </p:nvSpPr>
        <p:spPr>
          <a:xfrm>
            <a:off x="4288536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3</a:t>
            </a:r>
            <a:endParaRPr lang="en-US" sz="14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847088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822192" y="24688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Response Analyzed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840480" y="2852928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Script compares response length against known baseline to detect anomaly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248656" y="2350008"/>
            <a:ext cx="201168" cy="54864"/>
          </a:xfrm>
          <a:prstGeom prst="rect">
            <a:avLst/>
          </a:prstGeom>
          <a:solidFill>
            <a:srgbClr val="8B949E">
              <a:alpha val="6000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5486400" y="1097280"/>
            <a:ext cx="1463040" cy="25603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486400" y="1097280"/>
            <a:ext cx="1463040" cy="6400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0" name="Shape 25"/>
          <p:cNvSpPr/>
          <p:nvPr/>
        </p:nvSpPr>
        <p:spPr>
          <a:xfrm>
            <a:off x="6025896" y="1298448"/>
            <a:ext cx="384048" cy="384048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31" name="Text 26"/>
          <p:cNvSpPr/>
          <p:nvPr/>
        </p:nvSpPr>
        <p:spPr>
          <a:xfrm>
            <a:off x="6025896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4</a:t>
            </a:r>
            <a:endParaRPr lang="en-US" sz="14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47088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559552" y="24688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 Logged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577840" y="2852928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Vulnerable payload flagged; stats updated in live Rich dashboard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6986016" y="2350008"/>
            <a:ext cx="201168" cy="54864"/>
          </a:xfrm>
          <a:prstGeom prst="rect">
            <a:avLst/>
          </a:prstGeom>
          <a:solidFill>
            <a:srgbClr val="8B949E">
              <a:alpha val="60000"/>
            </a:srgbClr>
          </a:solidFill>
          <a:ln/>
        </p:spPr>
      </p:sp>
      <p:sp>
        <p:nvSpPr>
          <p:cNvPr id="36" name="Shape 30"/>
          <p:cNvSpPr/>
          <p:nvPr/>
        </p:nvSpPr>
        <p:spPr>
          <a:xfrm>
            <a:off x="7223760" y="1097280"/>
            <a:ext cx="1463040" cy="25603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223760" y="1097280"/>
            <a:ext cx="1463040" cy="64008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8" name="Shape 32"/>
          <p:cNvSpPr/>
          <p:nvPr/>
        </p:nvSpPr>
        <p:spPr>
          <a:xfrm>
            <a:off x="7763256" y="1298448"/>
            <a:ext cx="384048" cy="384048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39" name="Text 33"/>
          <p:cNvSpPr/>
          <p:nvPr/>
        </p:nvSpPr>
        <p:spPr>
          <a:xfrm>
            <a:off x="7763256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5</a:t>
            </a:r>
            <a:endParaRPr lang="en-US" sz="14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847088"/>
            <a:ext cx="457200" cy="45720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296912" y="24688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SQLMap Validates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7315200" y="2852928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Industry tool confirms boolean-based and time-based blind SQLi findings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Applications &amp; 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18745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0700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207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Cybersecurity Education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0352" y="1828800"/>
            <a:ext cx="3602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Demonstrations and learning tool for understanding injection attacks, vulnerable environments, and ethical hacking methodologies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05840"/>
            <a:ext cx="3931920" cy="18745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207008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97880" y="1207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Research Platform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285232" y="1828800"/>
            <a:ext cx="3602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Foundation for large-scale automated vulnerability testing research and studying injection pattern recognition at scale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65760" y="3154680"/>
            <a:ext cx="3931920" cy="18745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55848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355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</a:rPr>
              <a:t>Student Training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30352" y="3977640"/>
            <a:ext cx="3602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Hands-on training for students learning offensive security and penetration testing in safe, isolated lab conditions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120640" y="3154680"/>
            <a:ext cx="3931920" cy="18745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3355848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97880" y="3355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</a:rPr>
              <a:t>Scanner Development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285232" y="3977640"/>
            <a:ext cx="3602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Extensible base for building advanced security scanners with real-time dashboards and automated payload management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91440" cy="5143500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011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A6FF"/>
                </a:solidFill>
              </a:rPr>
              <a:t>Project Complete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Full Lifecycle Coverage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672" y="28986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</a:rPr>
              <a:t>Environment Setup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1927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672" y="32918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</a:rPr>
              <a:t>Automated Testing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12464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04672" y="36850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</a:rPr>
              <a:t>Live Visualization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105656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04672" y="40782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</a:rPr>
              <a:t>SQLMap Validation</a:t>
            </a:r>
            <a:endParaRPr lang="en-US" sz="11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498848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04672" y="44714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</a:rPr>
              <a:t>Scalable Architecture</a:t>
            </a:r>
            <a:endParaRPr lang="en-US" sz="1150" dirty="0"/>
          </a:p>
        </p:txBody>
      </p:sp>
      <p:sp>
        <p:nvSpPr>
          <p:cNvPr id="17" name="Text 9"/>
          <p:cNvSpPr/>
          <p:nvPr/>
        </p:nvSpPr>
        <p:spPr>
          <a:xfrm>
            <a:off x="4434840" y="32004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18" name="Shape 10"/>
          <p:cNvSpPr/>
          <p:nvPr/>
        </p:nvSpPr>
        <p:spPr>
          <a:xfrm>
            <a:off x="4343400" y="960120"/>
            <a:ext cx="4480560" cy="804672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7992" y="1143000"/>
            <a:ext cx="384048" cy="38404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010912" y="10515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Blind SQLi works by observing how response content and length change with injected boolean conditions</a:t>
            </a:r>
            <a:endParaRPr lang="en-US" sz="1050" dirty="0"/>
          </a:p>
        </p:txBody>
      </p:sp>
      <p:sp>
        <p:nvSpPr>
          <p:cNvPr id="21" name="Shape 12"/>
          <p:cNvSpPr/>
          <p:nvPr/>
        </p:nvSpPr>
        <p:spPr>
          <a:xfrm>
            <a:off x="4343400" y="1938528"/>
            <a:ext cx="4480560" cy="804672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7992" y="2121408"/>
            <a:ext cx="384048" cy="38404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010912" y="202996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Python automation enables scanning of millions of payloads at 50–60 requests/sec with full telemetry</a:t>
            </a:r>
            <a:endParaRPr lang="en-US" sz="1050" dirty="0"/>
          </a:p>
        </p:txBody>
      </p:sp>
      <p:sp>
        <p:nvSpPr>
          <p:cNvPr id="24" name="Shape 14"/>
          <p:cNvSpPr/>
          <p:nvPr/>
        </p:nvSpPr>
        <p:spPr>
          <a:xfrm>
            <a:off x="4343400" y="2916936"/>
            <a:ext cx="4480560" cy="804672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7992" y="3099816"/>
            <a:ext cx="384048" cy="38404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010912" y="300837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SQLMap validated all findings — confirming boolean-based and time-based injection vectors on MySQL/MariaDB</a:t>
            </a:r>
            <a:endParaRPr lang="en-US" sz="1050" dirty="0"/>
          </a:p>
        </p:txBody>
      </p:sp>
      <p:sp>
        <p:nvSpPr>
          <p:cNvPr id="27" name="Shape 16"/>
          <p:cNvSpPr/>
          <p:nvPr/>
        </p:nvSpPr>
        <p:spPr>
          <a:xfrm>
            <a:off x="4343400" y="3895344"/>
            <a:ext cx="4480560" cy="804672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7992" y="4078224"/>
            <a:ext cx="384048" cy="38404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010912" y="398678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Real-time Rich dashboards provide instant visibility into scanning speed, accuracy, and discovered vulnerabilities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" cy="5143500"/>
          </a:xfrm>
          <a:prstGeom prst="rect">
            <a:avLst/>
          </a:prstGeom>
          <a:solidFill>
            <a:srgbClr val="58A6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0"/>
            <a:ext cx="18288" cy="5143500"/>
          </a:xfrm>
          <a:prstGeom prst="rect">
            <a:avLst/>
          </a:prstGeom>
          <a:solidFill>
            <a:srgbClr val="58A6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0"/>
            <a:ext cx="18288" cy="5143500"/>
          </a:xfrm>
          <a:prstGeom prst="rect">
            <a:avLst/>
          </a:prstGeom>
          <a:solidFill>
            <a:srgbClr val="58A6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017520" y="0"/>
            <a:ext cx="18288" cy="5143500"/>
          </a:xfrm>
          <a:prstGeom prst="rect">
            <a:avLst/>
          </a:prstGeom>
          <a:solidFill>
            <a:srgbClr val="58A6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23360" y="0"/>
            <a:ext cx="18288" cy="5143500"/>
          </a:xfrm>
          <a:prstGeom prst="rect">
            <a:avLst/>
          </a:prstGeom>
          <a:solidFill>
            <a:srgbClr val="58A6FF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029200" y="0"/>
            <a:ext cx="18288" cy="5143500"/>
          </a:xfrm>
          <a:prstGeom prst="rect">
            <a:avLst/>
          </a:prstGeom>
          <a:solidFill>
            <a:srgbClr val="58A6FF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35040" y="0"/>
            <a:ext cx="18288" cy="5143500"/>
          </a:xfrm>
          <a:prstGeom prst="rect">
            <a:avLst/>
          </a:prstGeom>
          <a:solidFill>
            <a:srgbClr val="58A6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0" y="0"/>
            <a:ext cx="18288" cy="5143500"/>
          </a:xfrm>
          <a:prstGeom prst="rect">
            <a:avLst/>
          </a:prstGeom>
          <a:solidFill>
            <a:srgbClr val="58A6FF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0" y="0"/>
            <a:ext cx="18288" cy="5143500"/>
          </a:xfrm>
          <a:prstGeom prst="rect">
            <a:avLst/>
          </a:prstGeom>
          <a:solidFill>
            <a:srgbClr val="58A6FF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0"/>
            <a:ext cx="18288" cy="5143500"/>
          </a:xfrm>
          <a:prstGeom prst="rect">
            <a:avLst/>
          </a:prstGeom>
          <a:solidFill>
            <a:srgbClr val="58A6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58A6FF"/>
                </a:solidFill>
              </a:rPr>
              <a:t>PROJECT TEAM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Meet the Team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3474720" y="1170432"/>
            <a:ext cx="2194560" cy="36576"/>
          </a:xfrm>
          <a:prstGeom prst="rect">
            <a:avLst/>
          </a:prstGeom>
          <a:solidFill>
            <a:srgbClr val="58A6FF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18388" y="1325880"/>
            <a:ext cx="2331720" cy="1444752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" y="2706624"/>
            <a:ext cx="233172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664208" y="1481328"/>
            <a:ext cx="640080" cy="64008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9" name="Text 17"/>
          <p:cNvSpPr/>
          <p:nvPr/>
        </p:nvSpPr>
        <p:spPr>
          <a:xfrm>
            <a:off x="1664208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AP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9828" y="224028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Aashutosh Parihar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06140" y="1325880"/>
            <a:ext cx="2331720" cy="1444752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06140" y="2706624"/>
            <a:ext cx="2331720" cy="640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3" name="Shape 21"/>
          <p:cNvSpPr/>
          <p:nvPr/>
        </p:nvSpPr>
        <p:spPr>
          <a:xfrm>
            <a:off x="4251960" y="1481328"/>
            <a:ext cx="640080" cy="6400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4251960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AK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97580" y="224028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Ashutosh Kushwaha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93892" y="1325880"/>
            <a:ext cx="2331720" cy="1444752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93892" y="2706624"/>
            <a:ext cx="2331720" cy="64008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8" name="Shape 26"/>
          <p:cNvSpPr/>
          <p:nvPr/>
        </p:nvSpPr>
        <p:spPr>
          <a:xfrm>
            <a:off x="6839712" y="1481328"/>
            <a:ext cx="640080" cy="64008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9" name="Text 27"/>
          <p:cNvSpPr/>
          <p:nvPr/>
        </p:nvSpPr>
        <p:spPr>
          <a:xfrm>
            <a:off x="6839712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85332" y="224028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Rohan Singh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12264" y="2880360"/>
            <a:ext cx="2331720" cy="1444752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112264" y="4261104"/>
            <a:ext cx="2331720" cy="6400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958084" y="3035808"/>
            <a:ext cx="640080" cy="64008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34" name="Text 32"/>
          <p:cNvSpPr/>
          <p:nvPr/>
        </p:nvSpPr>
        <p:spPr>
          <a:xfrm>
            <a:off x="2958084" y="3035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NJ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203704" y="379476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Nethaniel Johan Kurian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0016" y="2880360"/>
            <a:ext cx="2331720" cy="1444752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0016" y="4261104"/>
            <a:ext cx="2331720" cy="64008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8" name="Shape 36"/>
          <p:cNvSpPr/>
          <p:nvPr/>
        </p:nvSpPr>
        <p:spPr>
          <a:xfrm>
            <a:off x="5545836" y="3035808"/>
            <a:ext cx="640080" cy="64008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39" name="Text 37"/>
          <p:cNvSpPr/>
          <p:nvPr/>
        </p:nvSpPr>
        <p:spPr>
          <a:xfrm>
            <a:off x="5545836" y="3035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VS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791456" y="379476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Vaibhav Singh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4462272"/>
            <a:ext cx="9144000" cy="36576"/>
          </a:xfrm>
          <a:prstGeom prst="rect">
            <a:avLst/>
          </a:prstGeom>
          <a:solidFill>
            <a:srgbClr val="58A6FF">
              <a:alpha val="5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45354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School of Computing Science &amp; AI  (SCAI)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20040" y="4773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VIT Bhopal University  •  Kothri, Bhopal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44568" y="4535424"/>
            <a:ext cx="27432" cy="548640"/>
          </a:xfrm>
          <a:prstGeom prst="rect">
            <a:avLst/>
          </a:prstGeom>
          <a:solidFill>
            <a:srgbClr val="8B949E">
              <a:alpha val="4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45354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49E"/>
                </a:solidFill>
              </a:rPr>
              <a:t>SUPERVISOR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54880" y="47548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Harihara Sitaraman .S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360920" y="4535424"/>
            <a:ext cx="27432" cy="548640"/>
          </a:xfrm>
          <a:prstGeom prst="rect">
            <a:avLst/>
          </a:prstGeom>
          <a:solidFill>
            <a:srgbClr val="8B949E">
              <a:alpha val="4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498080" y="45354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8B949E"/>
                </a:solidFill>
              </a:rPr>
              <a:t>GROUP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498080" y="47274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B341"/>
                </a:solidFill>
              </a:rPr>
              <a:t>32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Blind SQL Injection Detection System</dc:title>
  <dc:subject>PptxGenJS Presentation</dc:subject>
  <dc:creator>PptxGenJS</dc:creator>
  <cp:lastModifiedBy>PptxGenJS</cp:lastModifiedBy>
  <cp:revision>1</cp:revision>
  <dcterms:created xsi:type="dcterms:W3CDTF">2026-04-02T10:33:47Z</dcterms:created>
  <dcterms:modified xsi:type="dcterms:W3CDTF">2026-04-02T10:33:47Z</dcterms:modified>
</cp:coreProperties>
</file>